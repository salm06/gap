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Inter Semi-Bold" charset="1" panose="02000503000000020004"/>
      <p:regular r:id="rId28"/>
    </p:embeddedFont>
    <p:embeddedFont>
      <p:font typeface="Inter Medium" charset="1" panose="02000503000000020004"/>
      <p:regular r:id="rId29"/>
    </p:embeddedFont>
    <p:embeddedFont>
      <p:font typeface="Montserrat Ultra-Bold" charset="1" panose="00000900000000000000"/>
      <p:regular r:id="rId30"/>
    </p:embeddedFont>
    <p:embeddedFont>
      <p:font typeface="Inter" charset="1" panose="02000503000000020004"/>
      <p:regular r:id="rId31"/>
    </p:embeddedFont>
    <p:embeddedFont>
      <p:font typeface="Montserrat Bold" charset="1" panose="00000800000000000000"/>
      <p:regular r:id="rId33"/>
    </p:embeddedFont>
    <p:embeddedFont>
      <p:font typeface="Inter Bold" charset="1" panose="020005030000000200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2.xml" Type="http://schemas.openxmlformats.org/officeDocument/2006/relationships/notesSlide"/><Relationship Id="rId33" Target="fonts/font33.fntdata" Type="http://schemas.openxmlformats.org/officeDocument/2006/relationships/font"/><Relationship Id="rId34" Target="notesSlides/notesSlide3.xml" Type="http://schemas.openxmlformats.org/officeDocument/2006/relationships/notesSlide"/><Relationship Id="rId35" Target="fonts/font35.fntdata" Type="http://schemas.openxmlformats.org/officeDocument/2006/relationships/font"/><Relationship Id="rId36" Target="notesSlides/notesSlide4.xml" Type="http://schemas.openxmlformats.org/officeDocument/2006/relationships/notesSlide"/><Relationship Id="rId37" Target="notesSlides/notesSlide5.xml" Type="http://schemas.openxmlformats.org/officeDocument/2006/relationships/notesSlide"/><Relationship Id="rId38" Target="notesSlides/notesSlide6.xml" Type="http://schemas.openxmlformats.org/officeDocument/2006/relationships/notesSlide"/><Relationship Id="rId39" Target="notesSlides/notesSlide7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8.xml" Type="http://schemas.openxmlformats.org/officeDocument/2006/relationships/notesSlide"/><Relationship Id="rId41" Target="notesSlides/notesSlide9.xml" Type="http://schemas.openxmlformats.org/officeDocument/2006/relationships/notesSlide"/><Relationship Id="rId42" Target="notesSlides/notesSlide10.xml" Type="http://schemas.openxmlformats.org/officeDocument/2006/relationships/notesSlide"/><Relationship Id="rId43" Target="notesSlides/notesSlide11.xml" Type="http://schemas.openxmlformats.org/officeDocument/2006/relationships/notesSlide"/><Relationship Id="rId44" Target="notesSlides/notesSlide12.xml" Type="http://schemas.openxmlformats.org/officeDocument/2006/relationships/notesSlide"/><Relationship Id="rId45" Target="notesSlides/notesSlide13.xml" Type="http://schemas.openxmlformats.org/officeDocument/2006/relationships/notesSlide"/><Relationship Id="rId46" Target="notesSlides/notesSlide14.xml" Type="http://schemas.openxmlformats.org/officeDocument/2006/relationships/notesSlide"/><Relationship Id="rId47" Target="notesSlides/notesSlide15.xml" Type="http://schemas.openxmlformats.org/officeDocument/2006/relationships/notesSlide"/><Relationship Id="rId48" Target="notesSlides/notesSlide16.xml" Type="http://schemas.openxmlformats.org/officeDocument/2006/relationships/notesSlide"/><Relationship Id="rId49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8.xml" Type="http://schemas.openxmlformats.org/officeDocument/2006/relationships/notesSlide"/><Relationship Id="rId51" Target="notesSlides/notesSlide19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Non anticipare nulla: il titolo del canto arriva dopo la prima domanda.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Cinque blocchi. Dichiara che le domande di discussione arrivano solo alla fine.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Fissa le coordinate prima di leggere: cerchio, bolgia, numero di versi.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Distinzione chiave: non frode generica, ma uso della parola e dell'ingegno.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Sei movimenti: serve per orientarsi durante la lettura integrale.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La pena è la chiave interpretativa: farla dedurre prima di spiegarla.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 tre colpe sono elencate da Virgilio, non da Ulisse: lui non le nomina mai.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Il punto di regia del canto: la mediazione di Virgilio.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di stacco: serve a far respirare prima dell'analisi retorica.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Il cuore retorico: mostra come funziona, non solo cosa dice.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Ricostruisci la rotta: rende concreto il superamento del limite.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Quattro parole: com'altrui piacque. Chi è 'altrui' non viene detto.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Definizione tecnica + applicazione al canto.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Dante non conosceva Omero direttamente: passa da Virgilio, Ovidio, Cicerone, Stazio.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Non risolvere: la compresenza è il punto.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 versi in cui Dante frena l'ingegno: il doppio del personaggio è l'autore.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Gli strumenti tecnici, con esempi presi dal canto.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Chiusura: cinque punti e la domanda aperta per la prossima ora.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Domande aperte: si discutono in classe, non si assegnano come compito scritto.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62435" y="183888"/>
            <a:ext cx="17963131" cy="9919224"/>
            <a:chOff x="0" y="0"/>
            <a:chExt cx="12025666" cy="66405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025666" cy="6640562"/>
            </a:xfrm>
            <a:custGeom>
              <a:avLst/>
              <a:gdLst/>
              <a:ahLst/>
              <a:cxnLst/>
              <a:rect r="r" b="b" t="t" l="l"/>
              <a:pathLst>
                <a:path h="6640562" w="12025666">
                  <a:moveTo>
                    <a:pt x="77039" y="0"/>
                  </a:moveTo>
                  <a:lnTo>
                    <a:pt x="11948626" y="0"/>
                  </a:lnTo>
                  <a:cubicBezTo>
                    <a:pt x="11991174" y="0"/>
                    <a:pt x="12025666" y="34492"/>
                    <a:pt x="12025666" y="77039"/>
                  </a:cubicBezTo>
                  <a:lnTo>
                    <a:pt x="12025666" y="6563523"/>
                  </a:lnTo>
                  <a:cubicBezTo>
                    <a:pt x="12025666" y="6606070"/>
                    <a:pt x="11991174" y="6640562"/>
                    <a:pt x="11948626" y="6640562"/>
                  </a:cubicBezTo>
                  <a:lnTo>
                    <a:pt x="77039" y="6640562"/>
                  </a:lnTo>
                  <a:cubicBezTo>
                    <a:pt x="34492" y="6640562"/>
                    <a:pt x="0" y="6606070"/>
                    <a:pt x="0" y="6563523"/>
                  </a:cubicBezTo>
                  <a:lnTo>
                    <a:pt x="0" y="77039"/>
                  </a:lnTo>
                  <a:cubicBezTo>
                    <a:pt x="0" y="34492"/>
                    <a:pt x="34492" y="0"/>
                    <a:pt x="77039" y="0"/>
                  </a:cubicBezTo>
                  <a:close/>
                </a:path>
              </a:pathLst>
            </a:custGeom>
            <a:blipFill>
              <a:blip r:embed="rId3">
                <a:alphaModFix amt="27000"/>
              </a:blip>
              <a:stretch>
                <a:fillRect l="0" t="-2651" r="0" b="-17776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143000" y="914400"/>
            <a:ext cx="1145667" cy="533400"/>
          </a:xfrm>
          <a:custGeom>
            <a:avLst/>
            <a:gdLst/>
            <a:ahLst/>
            <a:cxnLst/>
            <a:rect r="r" b="b" t="t" l="l"/>
            <a:pathLst>
              <a:path h="533400" w="1145667">
                <a:moveTo>
                  <a:pt x="0" y="0"/>
                </a:moveTo>
                <a:lnTo>
                  <a:pt x="1145667" y="0"/>
                </a:lnTo>
                <a:lnTo>
                  <a:pt x="1145667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33500" y="2465165"/>
            <a:ext cx="3947869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 spc="396">
                <a:solidFill>
                  <a:srgbClr val="FFC7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LEZIONE TEORICA · 50 MIN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3500" y="3055715"/>
            <a:ext cx="4141751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 spc="396">
                <a:solidFill>
                  <a:srgbClr val="8A8A8A"/>
                </a:solidFill>
                <a:latin typeface="Inter Medium"/>
                <a:ea typeface="Inter Medium"/>
                <a:cs typeface="Inter Medium"/>
                <a:sym typeface="Inter Medium"/>
              </a:rPr>
              <a:t>ITALIANO · DANTE, INFERNO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3500" y="4103465"/>
            <a:ext cx="15621000" cy="233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0"/>
              </a:lnSpc>
            </a:pPr>
            <a:r>
              <a:rPr lang="en-US" b="true" sz="11250" spc="-22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IL CANTO</a:t>
            </a:r>
          </a:p>
          <a:p>
            <a:pPr algn="l">
              <a:lnSpc>
                <a:spcPts val="10350"/>
              </a:lnSpc>
            </a:pPr>
            <a:r>
              <a:rPr lang="en-US" b="true" sz="11250" spc="-22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DI ULISSE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3500" y="6713315"/>
            <a:ext cx="11239500" cy="106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27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Inferno XXVI. Come si fa ad ammirare un dannato: retorica, punto di vista e giudizio in 142 versi.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333500" y="914400"/>
            <a:ext cx="15621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50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PROGRAMMA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00" y="1752600"/>
            <a:ext cx="1562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b="true" sz="585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COSA VEDIAMO OGGI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1333500" y="4974908"/>
            <a:ext cx="2880265" cy="57150"/>
          </a:xfrm>
          <a:prstGeom prst="rect">
            <a:avLst/>
          </a:prstGeom>
          <a:solidFill>
            <a:srgbClr val="FFC700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333500" y="5232083"/>
            <a:ext cx="288026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3500" y="6003608"/>
            <a:ext cx="2880265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b="true" sz="240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Dove siamo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3500" y="6458807"/>
            <a:ext cx="2880265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Malebolge, ottava bolgia</a:t>
            </a:r>
          </a:p>
        </p:txBody>
      </p:sp>
      <p:sp>
        <p:nvSpPr>
          <p:cNvPr name="AutoShape 9" id="9"/>
          <p:cNvSpPr/>
          <p:nvPr/>
        </p:nvSpPr>
        <p:spPr>
          <a:xfrm rot="0">
            <a:off x="4518565" y="4974908"/>
            <a:ext cx="2880455" cy="57150"/>
          </a:xfrm>
          <a:prstGeom prst="rect">
            <a:avLst/>
          </a:prstGeom>
          <a:solidFill>
            <a:srgbClr val="FFC700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4518565" y="5232083"/>
            <a:ext cx="288045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18565" y="6003608"/>
            <a:ext cx="2880455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b="true" sz="240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Il peccato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18565" y="6458807"/>
            <a:ext cx="2880455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Il consiglio fraudolento</a:t>
            </a:r>
          </a:p>
        </p:txBody>
      </p:sp>
      <p:sp>
        <p:nvSpPr>
          <p:cNvPr name="AutoShape 13" id="13"/>
          <p:cNvSpPr/>
          <p:nvPr/>
        </p:nvSpPr>
        <p:spPr>
          <a:xfrm rot="0">
            <a:off x="7703820" y="4974908"/>
            <a:ext cx="2880265" cy="57150"/>
          </a:xfrm>
          <a:prstGeom prst="rect">
            <a:avLst/>
          </a:prstGeom>
          <a:solidFill>
            <a:srgbClr val="FFC700"/>
          </a:solidFill>
        </p:spPr>
      </p:sp>
      <p:sp>
        <p:nvSpPr>
          <p:cNvPr name="TextBox 14" id="14"/>
          <p:cNvSpPr txBox="true"/>
          <p:nvPr/>
        </p:nvSpPr>
        <p:spPr>
          <a:xfrm rot="0">
            <a:off x="7703820" y="5232083"/>
            <a:ext cx="288026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03820" y="6003608"/>
            <a:ext cx="2880265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b="true" sz="240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Il discorso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03820" y="6458807"/>
            <a:ext cx="2880265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L'orazion picciola</a:t>
            </a:r>
          </a:p>
        </p:txBody>
      </p:sp>
      <p:sp>
        <p:nvSpPr>
          <p:cNvPr name="AutoShape 17" id="17"/>
          <p:cNvSpPr/>
          <p:nvPr/>
        </p:nvSpPr>
        <p:spPr>
          <a:xfrm rot="0">
            <a:off x="10888885" y="4974908"/>
            <a:ext cx="2880455" cy="57150"/>
          </a:xfrm>
          <a:prstGeom prst="rect">
            <a:avLst/>
          </a:prstGeom>
          <a:solidFill>
            <a:srgbClr val="FFC700"/>
          </a:solidFill>
        </p:spPr>
      </p:sp>
      <p:sp>
        <p:nvSpPr>
          <p:cNvPr name="TextBox 18" id="18"/>
          <p:cNvSpPr txBox="true"/>
          <p:nvPr/>
        </p:nvSpPr>
        <p:spPr>
          <a:xfrm rot="0">
            <a:off x="10888885" y="5232083"/>
            <a:ext cx="288045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88885" y="6003608"/>
            <a:ext cx="2880455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b="true" sz="240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Il giudizio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88885" y="6458807"/>
            <a:ext cx="2880455" cy="71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Contrappasso e voce narrante</a:t>
            </a:r>
          </a:p>
        </p:txBody>
      </p:sp>
      <p:sp>
        <p:nvSpPr>
          <p:cNvPr name="AutoShape 21" id="21"/>
          <p:cNvSpPr/>
          <p:nvPr/>
        </p:nvSpPr>
        <p:spPr>
          <a:xfrm rot="0">
            <a:off x="14074045" y="4974908"/>
            <a:ext cx="2880265" cy="57150"/>
          </a:xfrm>
          <a:prstGeom prst="rect">
            <a:avLst/>
          </a:prstGeom>
          <a:solidFill>
            <a:srgbClr val="FFC700"/>
          </a:solidFill>
        </p:spPr>
      </p:sp>
      <p:sp>
        <p:nvSpPr>
          <p:cNvPr name="TextBox 22" id="22"/>
          <p:cNvSpPr txBox="true"/>
          <p:nvPr/>
        </p:nvSpPr>
        <p:spPr>
          <a:xfrm rot="0">
            <a:off x="14074045" y="5232083"/>
            <a:ext cx="288026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074045" y="6003608"/>
            <a:ext cx="2880265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b="true" sz="240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 due letture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074045" y="6458807"/>
            <a:ext cx="2880265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Eroe o dannato: il dibattito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333500" y="914400"/>
            <a:ext cx="15621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50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PUNTO DI PARTENZA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00" y="3081337"/>
            <a:ext cx="1562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b="true" sz="585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DOVE SIAMO ESATTAMENTE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33500" y="5467350"/>
            <a:ext cx="7902893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5"/>
              </a:lnSpc>
            </a:pPr>
            <a:r>
              <a:rPr lang="en-US" sz="25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Ottavo cerchio, il regno della frode: dieci fossati concentrici chiamati </a:t>
            </a:r>
            <a:r>
              <a:rPr lang="en-US" b="true" sz="2550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Malebolge</a:t>
            </a:r>
            <a:r>
              <a:rPr lang="en-US" sz="25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, ciascuno con una categoria di fraudolenti.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3500" y="7181850"/>
            <a:ext cx="7902893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Nell'</a:t>
            </a:r>
            <a:r>
              <a:rPr lang="en-US" b="true" sz="2250">
                <a:solidFill>
                  <a:srgbClr val="8A8A8A"/>
                </a:solidFill>
                <a:latin typeface="Inter Bold"/>
                <a:ea typeface="Inter Bold"/>
                <a:cs typeface="Inter Bold"/>
                <a:sym typeface="Inter Bold"/>
              </a:rPr>
              <a:t>ottava bolgia</a:t>
            </a:r>
            <a:r>
              <a:rPr lang="en-US" sz="22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 stanno i consiglieri di frode. Dante e Virgilio li osservano dall'alto, in equilibrio su uno scoglio: la posizione fisica è già un fatto di regia.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69793" y="5543550"/>
            <a:ext cx="7184707" cy="3790950"/>
            <a:chOff x="0" y="0"/>
            <a:chExt cx="9579610" cy="5054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79610" cy="5054600"/>
            </a:xfrm>
            <a:custGeom>
              <a:avLst/>
              <a:gdLst/>
              <a:ahLst/>
              <a:cxnLst/>
              <a:rect r="r" b="b" t="t" l="l"/>
              <a:pathLst>
                <a:path h="5054600" w="9579610">
                  <a:moveTo>
                    <a:pt x="304800" y="0"/>
                  </a:moveTo>
                  <a:lnTo>
                    <a:pt x="9274810" y="0"/>
                  </a:lnTo>
                  <a:cubicBezTo>
                    <a:pt x="9443085" y="0"/>
                    <a:pt x="9579610" y="136525"/>
                    <a:pt x="9579610" y="304800"/>
                  </a:cubicBezTo>
                  <a:lnTo>
                    <a:pt x="9579610" y="4749800"/>
                  </a:lnTo>
                  <a:cubicBezTo>
                    <a:pt x="9579610" y="4918075"/>
                    <a:pt x="9443085" y="5054600"/>
                    <a:pt x="9274810" y="5054600"/>
                  </a:cubicBezTo>
                  <a:lnTo>
                    <a:pt x="304800" y="5054600"/>
                  </a:lnTo>
                  <a:cubicBezTo>
                    <a:pt x="136525" y="5054600"/>
                    <a:pt x="0" y="4918075"/>
                    <a:pt x="0" y="47498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26993" y="5962650"/>
            <a:ext cx="62703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599">
                <a:solidFill>
                  <a:srgbClr val="FFC7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SCHEDA</a:t>
            </a:r>
          </a:p>
        </p:txBody>
      </p:sp>
      <p:sp>
        <p:nvSpPr>
          <p:cNvPr name="AutoShape 10" id="10"/>
          <p:cNvSpPr/>
          <p:nvPr/>
        </p:nvSpPr>
        <p:spPr>
          <a:xfrm rot="0">
            <a:off x="10226993" y="6962775"/>
            <a:ext cx="6270308" cy="9525"/>
          </a:xfrm>
          <a:prstGeom prst="rect">
            <a:avLst/>
          </a:prstGeom>
          <a:solidFill>
            <a:srgbClr val="373737"/>
          </a:solidFill>
        </p:spPr>
      </p:sp>
      <p:sp>
        <p:nvSpPr>
          <p:cNvPr name="TextBox 11" id="11"/>
          <p:cNvSpPr txBox="true"/>
          <p:nvPr/>
        </p:nvSpPr>
        <p:spPr>
          <a:xfrm rot="0">
            <a:off x="10226993" y="6419850"/>
            <a:ext cx="91087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Cerchio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744700" y="6429375"/>
            <a:ext cx="17526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VIII · la frode</a:t>
            </a:r>
          </a:p>
        </p:txBody>
      </p:sp>
      <p:sp>
        <p:nvSpPr>
          <p:cNvPr name="AutoShape 13" id="13"/>
          <p:cNvSpPr/>
          <p:nvPr/>
        </p:nvSpPr>
        <p:spPr>
          <a:xfrm rot="0">
            <a:off x="10226993" y="7658100"/>
            <a:ext cx="6270308" cy="9525"/>
          </a:xfrm>
          <a:prstGeom prst="rect">
            <a:avLst/>
          </a:prstGeom>
          <a:solidFill>
            <a:srgbClr val="373737"/>
          </a:solidFill>
        </p:spPr>
      </p:sp>
      <p:sp>
        <p:nvSpPr>
          <p:cNvPr name="TextBox 14" id="14"/>
          <p:cNvSpPr txBox="true"/>
          <p:nvPr/>
        </p:nvSpPr>
        <p:spPr>
          <a:xfrm rot="0">
            <a:off x="10226993" y="7115175"/>
            <a:ext cx="72151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Bolgia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61890" y="7124700"/>
            <a:ext cx="213541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VIII · consiglieri</a:t>
            </a:r>
          </a:p>
        </p:txBody>
      </p:sp>
      <p:sp>
        <p:nvSpPr>
          <p:cNvPr name="AutoShape 16" id="16"/>
          <p:cNvSpPr/>
          <p:nvPr/>
        </p:nvSpPr>
        <p:spPr>
          <a:xfrm rot="0">
            <a:off x="10226993" y="8353425"/>
            <a:ext cx="6270308" cy="9525"/>
          </a:xfrm>
          <a:prstGeom prst="rect">
            <a:avLst/>
          </a:prstGeom>
          <a:solidFill>
            <a:srgbClr val="373737"/>
          </a:solidFill>
        </p:spPr>
      </p:sp>
      <p:sp>
        <p:nvSpPr>
          <p:cNvPr name="TextBox 17" id="17"/>
          <p:cNvSpPr txBox="true"/>
          <p:nvPr/>
        </p:nvSpPr>
        <p:spPr>
          <a:xfrm rot="0">
            <a:off x="10226993" y="7810500"/>
            <a:ext cx="58664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Versi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051530" y="7820025"/>
            <a:ext cx="44577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142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26993" y="8505825"/>
            <a:ext cx="58664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Pena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14488" y="8515350"/>
            <a:ext cx="268281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Fiamme individuali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333500" y="914400"/>
            <a:ext cx="15621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50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IL PECCATO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00" y="2346293"/>
            <a:ext cx="1562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b="true" sz="585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IL CONSIGLIO FRAUDOLENTO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33500" y="3921157"/>
            <a:ext cx="133350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5"/>
              </a:lnSpc>
            </a:pPr>
            <a:r>
              <a:rPr lang="en-US" sz="25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Non si punisce chi ha ingannato con le mani, ma chi ha messo l'intelligenza al servizio dell'inganno: ha suggerito ad altri come ottenere qualcosa con la parola.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33500" y="6096000"/>
            <a:ext cx="7620000" cy="3238500"/>
            <a:chOff x="0" y="0"/>
            <a:chExt cx="10160000" cy="431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60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10160000">
                  <a:moveTo>
                    <a:pt x="304800" y="0"/>
                  </a:moveTo>
                  <a:lnTo>
                    <a:pt x="9855200" y="0"/>
                  </a:lnTo>
                  <a:cubicBezTo>
                    <a:pt x="10023475" y="0"/>
                    <a:pt x="10160000" y="136525"/>
                    <a:pt x="10160000" y="304800"/>
                  </a:cubicBezTo>
                  <a:lnTo>
                    <a:pt x="10160000" y="4013200"/>
                  </a:lnTo>
                  <a:cubicBezTo>
                    <a:pt x="10160000" y="4181475"/>
                    <a:pt x="10023475" y="4318000"/>
                    <a:pt x="9855200" y="4318000"/>
                  </a:cubicBezTo>
                  <a:lnTo>
                    <a:pt x="304800" y="4318000"/>
                  </a:lnTo>
                  <a:cubicBezTo>
                    <a:pt x="136525" y="4318000"/>
                    <a:pt x="0" y="4181475"/>
                    <a:pt x="0" y="40132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90700" y="6515100"/>
            <a:ext cx="67056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599">
                <a:solidFill>
                  <a:srgbClr val="1A1A1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COSA SI CONDANNA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90700" y="6991350"/>
            <a:ext cx="67056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b="true" sz="285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L'ingegno usato per aggirare gli altri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90700" y="8020050"/>
            <a:ext cx="670560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Il dono più alto dell'uomo — la ragione, la parola — impiegato per un fine che non regge alla luce.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34500" y="6096000"/>
            <a:ext cx="7620000" cy="3238500"/>
            <a:chOff x="0" y="0"/>
            <a:chExt cx="10160000" cy="431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60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10160000">
                  <a:moveTo>
                    <a:pt x="304800" y="0"/>
                  </a:moveTo>
                  <a:lnTo>
                    <a:pt x="9855200" y="0"/>
                  </a:lnTo>
                  <a:cubicBezTo>
                    <a:pt x="10023475" y="0"/>
                    <a:pt x="10160000" y="136525"/>
                    <a:pt x="10160000" y="304800"/>
                  </a:cubicBezTo>
                  <a:lnTo>
                    <a:pt x="10160000" y="4013200"/>
                  </a:lnTo>
                  <a:cubicBezTo>
                    <a:pt x="10160000" y="4181475"/>
                    <a:pt x="10023475" y="4318000"/>
                    <a:pt x="9855200" y="4318000"/>
                  </a:cubicBezTo>
                  <a:lnTo>
                    <a:pt x="304800" y="4318000"/>
                  </a:lnTo>
                  <a:cubicBezTo>
                    <a:pt x="136525" y="4318000"/>
                    <a:pt x="0" y="4181475"/>
                    <a:pt x="0" y="40132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791700" y="6515100"/>
            <a:ext cx="67056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599">
                <a:solidFill>
                  <a:srgbClr val="FF842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PERCHÉ CI RIGUARDA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91700" y="6991350"/>
            <a:ext cx="6705600" cy="46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b="true" sz="285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È il peccato più vicino a un poeta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91700" y="7567612"/>
            <a:ext cx="670560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Anche Dante convince con le parole. Per questo, in questo canto, è il narratore stesso a mostrarsi prudente.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333500" y="914400"/>
            <a:ext cx="15621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50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STRUTTURA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00" y="3183255"/>
            <a:ext cx="1562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b="true" sz="585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IL CANTO IN SEI MOVIMENTI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1333500" y="5785580"/>
            <a:ext cx="57150" cy="1622108"/>
          </a:xfrm>
          <a:prstGeom prst="rect">
            <a:avLst/>
          </a:prstGeom>
          <a:solidFill>
            <a:srgbClr val="FFC700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657350" y="5747480"/>
            <a:ext cx="467991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300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VV. 1–12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7350" y="6195155"/>
            <a:ext cx="4679918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255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L'invettiva a Firenze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7350" y="6669405"/>
            <a:ext cx="4679918" cy="7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Apostrofe amara: la tua fama arriva fino all'Inferno.</a:t>
            </a:r>
          </a:p>
        </p:txBody>
      </p:sp>
      <p:sp>
        <p:nvSpPr>
          <p:cNvPr name="AutoShape 9" id="9"/>
          <p:cNvSpPr/>
          <p:nvPr/>
        </p:nvSpPr>
        <p:spPr>
          <a:xfrm rot="0">
            <a:off x="6642068" y="5785580"/>
            <a:ext cx="57150" cy="1622108"/>
          </a:xfrm>
          <a:prstGeom prst="rect">
            <a:avLst/>
          </a:prstGeom>
          <a:solidFill>
            <a:srgbClr val="FFC700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6965918" y="5747480"/>
            <a:ext cx="467991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300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VV. 13–24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65918" y="6195155"/>
            <a:ext cx="4679918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255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Il freno all'ingegno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65918" y="6669405"/>
            <a:ext cx="4679918" cy="7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Il narratore dichiara di doversi controllare. Tienilo a mente.</a:t>
            </a:r>
          </a:p>
        </p:txBody>
      </p:sp>
      <p:sp>
        <p:nvSpPr>
          <p:cNvPr name="AutoShape 13" id="13"/>
          <p:cNvSpPr/>
          <p:nvPr/>
        </p:nvSpPr>
        <p:spPr>
          <a:xfrm rot="0">
            <a:off x="11950637" y="5785580"/>
            <a:ext cx="57150" cy="1622108"/>
          </a:xfrm>
          <a:prstGeom prst="rect">
            <a:avLst/>
          </a:prstGeom>
          <a:solidFill>
            <a:srgbClr val="FFC700"/>
          </a:solidFill>
        </p:spPr>
      </p:sp>
      <p:sp>
        <p:nvSpPr>
          <p:cNvPr name="TextBox 14" id="14"/>
          <p:cNvSpPr txBox="true"/>
          <p:nvPr/>
        </p:nvSpPr>
        <p:spPr>
          <a:xfrm rot="0">
            <a:off x="12274487" y="5747480"/>
            <a:ext cx="467991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300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VV. 25–48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74487" y="6195155"/>
            <a:ext cx="4679918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255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bolgia delle fiamme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74487" y="6669405"/>
            <a:ext cx="4679918" cy="7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La similitudine delle lucciole e la scena vista dall'alto.</a:t>
            </a:r>
          </a:p>
        </p:txBody>
      </p:sp>
      <p:sp>
        <p:nvSpPr>
          <p:cNvPr name="AutoShape 17" id="17"/>
          <p:cNvSpPr/>
          <p:nvPr/>
        </p:nvSpPr>
        <p:spPr>
          <a:xfrm rot="0">
            <a:off x="1333500" y="7712393"/>
            <a:ext cx="57150" cy="1622108"/>
          </a:xfrm>
          <a:prstGeom prst="rect">
            <a:avLst/>
          </a:prstGeom>
          <a:solidFill>
            <a:srgbClr val="FF842F"/>
          </a:solidFill>
        </p:spPr>
      </p:sp>
      <p:sp>
        <p:nvSpPr>
          <p:cNvPr name="TextBox 18" id="18"/>
          <p:cNvSpPr txBox="true"/>
          <p:nvPr/>
        </p:nvSpPr>
        <p:spPr>
          <a:xfrm rot="0">
            <a:off x="1657350" y="7674293"/>
            <a:ext cx="467991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300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VV. 49–84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57350" y="8121968"/>
            <a:ext cx="4679918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255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fiamma doppia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57350" y="8596313"/>
            <a:ext cx="4679918" cy="7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Ulisse e Diomede insieme; Virgilio prende la parola al posto di Dante.</a:t>
            </a:r>
          </a:p>
        </p:txBody>
      </p:sp>
      <p:sp>
        <p:nvSpPr>
          <p:cNvPr name="AutoShape 21" id="21"/>
          <p:cNvSpPr/>
          <p:nvPr/>
        </p:nvSpPr>
        <p:spPr>
          <a:xfrm rot="0">
            <a:off x="6642068" y="7712393"/>
            <a:ext cx="57150" cy="1622108"/>
          </a:xfrm>
          <a:prstGeom prst="rect">
            <a:avLst/>
          </a:prstGeom>
          <a:solidFill>
            <a:srgbClr val="FF842F"/>
          </a:solidFill>
        </p:spPr>
      </p:sp>
      <p:sp>
        <p:nvSpPr>
          <p:cNvPr name="TextBox 22" id="22"/>
          <p:cNvSpPr txBox="true"/>
          <p:nvPr/>
        </p:nvSpPr>
        <p:spPr>
          <a:xfrm rot="0">
            <a:off x="6965918" y="7674293"/>
            <a:ext cx="467991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300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VV. 85–120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65918" y="8121968"/>
            <a:ext cx="4679918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255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Il viaggio e l'orazione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65918" y="8596313"/>
            <a:ext cx="4679918" cy="7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Il racconto dell'ultimo viaggio e il discorso ai compagni.</a:t>
            </a:r>
          </a:p>
        </p:txBody>
      </p:sp>
      <p:sp>
        <p:nvSpPr>
          <p:cNvPr name="AutoShape 25" id="25"/>
          <p:cNvSpPr/>
          <p:nvPr/>
        </p:nvSpPr>
        <p:spPr>
          <a:xfrm rot="0">
            <a:off x="11950637" y="7712393"/>
            <a:ext cx="57150" cy="1622108"/>
          </a:xfrm>
          <a:prstGeom prst="rect">
            <a:avLst/>
          </a:prstGeom>
          <a:solidFill>
            <a:srgbClr val="FF842F"/>
          </a:solidFill>
        </p:spPr>
      </p:sp>
      <p:sp>
        <p:nvSpPr>
          <p:cNvPr name="TextBox 26" id="26"/>
          <p:cNvSpPr txBox="true"/>
          <p:nvPr/>
        </p:nvSpPr>
        <p:spPr>
          <a:xfrm rot="0">
            <a:off x="12274487" y="7674293"/>
            <a:ext cx="467991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300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VV. 121–142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74487" y="8121968"/>
            <a:ext cx="4679918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255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montagna e il naufragio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74487" y="8596313"/>
            <a:ext cx="4679918" cy="7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Cinque mesi di rotta, la terra bruna all'orizzonte, il mare che si richiude.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333500" y="914400"/>
            <a:ext cx="15621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50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LA PENA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00" y="3114675"/>
            <a:ext cx="1562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b="true" sz="585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OGNI DANNATO È UNA FIAMMA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33500" y="5457825"/>
            <a:ext cx="7581900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Il corpo non si vede: il peccatore è avvolto nel fuoco e parla facendo vibrare la punta della fiamma, con fatica, come se la voce dovesse forzare una materia che non è più sua.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3500" y="7543800"/>
            <a:ext cx="7581900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La bolgia vista dall'alto è punteggiata di luci: Dante la paragona alla valle piena di lucciole che il contadino vede d'estate, al crepuscolo.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372600" y="5534025"/>
            <a:ext cx="7581900" cy="3800475"/>
            <a:chOff x="0" y="0"/>
            <a:chExt cx="10109200" cy="50673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09200" cy="5067300"/>
            </a:xfrm>
            <a:custGeom>
              <a:avLst/>
              <a:gdLst/>
              <a:ahLst/>
              <a:cxnLst/>
              <a:rect r="r" b="b" t="t" l="l"/>
              <a:pathLst>
                <a:path h="5067300" w="10109200">
                  <a:moveTo>
                    <a:pt x="304800" y="0"/>
                  </a:moveTo>
                  <a:lnTo>
                    <a:pt x="9804400" y="0"/>
                  </a:lnTo>
                  <a:cubicBezTo>
                    <a:pt x="9972675" y="0"/>
                    <a:pt x="10109200" y="136525"/>
                    <a:pt x="10109200" y="304800"/>
                  </a:cubicBezTo>
                  <a:lnTo>
                    <a:pt x="10109200" y="4762500"/>
                  </a:lnTo>
                  <a:cubicBezTo>
                    <a:pt x="10109200" y="4930775"/>
                    <a:pt x="9972675" y="5067300"/>
                    <a:pt x="9804400" y="5067300"/>
                  </a:cubicBezTo>
                  <a:lnTo>
                    <a:pt x="304800" y="5067300"/>
                  </a:lnTo>
                  <a:cubicBezTo>
                    <a:pt x="136525" y="5067300"/>
                    <a:pt x="0" y="4930775"/>
                    <a:pt x="0" y="47625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867900" y="5991225"/>
            <a:ext cx="65913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599">
                <a:solidFill>
                  <a:srgbClr val="1A1A1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COME LEGGERLA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67900" y="6515100"/>
            <a:ext cx="65913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00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lingua che ha ingannato resta chiusa nel fuoco.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67900" y="7581900"/>
            <a:ext cx="659130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Chi ha nascosto il proprio pensiero dietro le parole è ora nascosto dentro la propria pena. Il fuoco è insieme la loro colpa e il loro sudario.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333500" y="914400"/>
            <a:ext cx="15621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50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ULISSE E DIOMEDE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00" y="2407253"/>
            <a:ext cx="1562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b="true" sz="585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PERCHÉ STANNO QUI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33500" y="4043077"/>
            <a:ext cx="1352550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Una sola fiamma con due punte: hanno peccato insieme e insieme bruciano. Le colpe che il testo elenca sono tre, e sono tutte inganni costruiti con l'intelligenza.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33500" y="6183630"/>
            <a:ext cx="5003768" cy="3150870"/>
            <a:chOff x="0" y="0"/>
            <a:chExt cx="6671691" cy="4201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71691" cy="4201160"/>
            </a:xfrm>
            <a:custGeom>
              <a:avLst/>
              <a:gdLst/>
              <a:ahLst/>
              <a:cxnLst/>
              <a:rect r="r" b="b" t="t" l="l"/>
              <a:pathLst>
                <a:path h="4201160" w="6671691">
                  <a:moveTo>
                    <a:pt x="304800" y="0"/>
                  </a:moveTo>
                  <a:lnTo>
                    <a:pt x="6366891" y="0"/>
                  </a:lnTo>
                  <a:cubicBezTo>
                    <a:pt x="6535166" y="0"/>
                    <a:pt x="6671691" y="136525"/>
                    <a:pt x="6671691" y="304800"/>
                  </a:cubicBezTo>
                  <a:lnTo>
                    <a:pt x="6671691" y="3896360"/>
                  </a:lnTo>
                  <a:cubicBezTo>
                    <a:pt x="6671691" y="4064635"/>
                    <a:pt x="6535166" y="4201160"/>
                    <a:pt x="6366891" y="4201160"/>
                  </a:cubicBezTo>
                  <a:lnTo>
                    <a:pt x="304800" y="4201160"/>
                  </a:lnTo>
                  <a:cubicBezTo>
                    <a:pt x="136525" y="4201160"/>
                    <a:pt x="0" y="4064635"/>
                    <a:pt x="0" y="389636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52600" y="6545580"/>
            <a:ext cx="416556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FFC7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2600" y="7240905"/>
            <a:ext cx="4165568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255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Il cavallo di Troia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2600" y="7734300"/>
            <a:ext cx="416556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L'inganno che apre le mura e da cui nasce la fuga di Enea: senza quel cavallo non c'è Roma.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642068" y="6183630"/>
            <a:ext cx="5003768" cy="3150870"/>
            <a:chOff x="0" y="0"/>
            <a:chExt cx="6671691" cy="4201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71691" cy="4201160"/>
            </a:xfrm>
            <a:custGeom>
              <a:avLst/>
              <a:gdLst/>
              <a:ahLst/>
              <a:cxnLst/>
              <a:rect r="r" b="b" t="t" l="l"/>
              <a:pathLst>
                <a:path h="4201160" w="6671691">
                  <a:moveTo>
                    <a:pt x="304800" y="0"/>
                  </a:moveTo>
                  <a:lnTo>
                    <a:pt x="6366891" y="0"/>
                  </a:lnTo>
                  <a:cubicBezTo>
                    <a:pt x="6535166" y="0"/>
                    <a:pt x="6671691" y="136525"/>
                    <a:pt x="6671691" y="304800"/>
                  </a:cubicBezTo>
                  <a:lnTo>
                    <a:pt x="6671691" y="3896360"/>
                  </a:lnTo>
                  <a:cubicBezTo>
                    <a:pt x="6671691" y="4064635"/>
                    <a:pt x="6535166" y="4201160"/>
                    <a:pt x="6366891" y="4201160"/>
                  </a:cubicBezTo>
                  <a:lnTo>
                    <a:pt x="304800" y="4201160"/>
                  </a:lnTo>
                  <a:cubicBezTo>
                    <a:pt x="136525" y="4201160"/>
                    <a:pt x="0" y="4064635"/>
                    <a:pt x="0" y="389636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061168" y="6545580"/>
            <a:ext cx="416556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FFC7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61168" y="7240905"/>
            <a:ext cx="4165568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255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Achille e Deidamìa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61168" y="7734300"/>
            <a:ext cx="416556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Achille scoperto e portato in guerra: Deidamìa resta abbandonata e ne muore di dolore.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950637" y="6183630"/>
            <a:ext cx="5003768" cy="3150870"/>
            <a:chOff x="0" y="0"/>
            <a:chExt cx="6671691" cy="4201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71691" cy="4201160"/>
            </a:xfrm>
            <a:custGeom>
              <a:avLst/>
              <a:gdLst/>
              <a:ahLst/>
              <a:cxnLst/>
              <a:rect r="r" b="b" t="t" l="l"/>
              <a:pathLst>
                <a:path h="4201160" w="6671691">
                  <a:moveTo>
                    <a:pt x="304800" y="0"/>
                  </a:moveTo>
                  <a:lnTo>
                    <a:pt x="6366891" y="0"/>
                  </a:lnTo>
                  <a:cubicBezTo>
                    <a:pt x="6535166" y="0"/>
                    <a:pt x="6671691" y="136525"/>
                    <a:pt x="6671691" y="304800"/>
                  </a:cubicBezTo>
                  <a:lnTo>
                    <a:pt x="6671691" y="3896360"/>
                  </a:lnTo>
                  <a:cubicBezTo>
                    <a:pt x="6671691" y="4064635"/>
                    <a:pt x="6535166" y="4201160"/>
                    <a:pt x="6366891" y="4201160"/>
                  </a:cubicBezTo>
                  <a:lnTo>
                    <a:pt x="304800" y="4201160"/>
                  </a:lnTo>
                  <a:cubicBezTo>
                    <a:pt x="136525" y="4201160"/>
                    <a:pt x="0" y="4064635"/>
                    <a:pt x="0" y="389636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369737" y="6545580"/>
            <a:ext cx="416556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FFC7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69737" y="7240905"/>
            <a:ext cx="4165568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255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Il furto del Palladio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69737" y="7734300"/>
            <a:ext cx="416556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La statua che proteggeva Troia sottratta con l'astuzia: la città perde la sua difesa sacra.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333500" y="914400"/>
            <a:ext cx="15621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50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PUNTO DI VISTA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00" y="2130457"/>
            <a:ext cx="1562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b="true" sz="585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DANTE NON GLI PARLA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33500" y="3641693"/>
            <a:ext cx="7620000" cy="3200400"/>
            <a:chOff x="0" y="0"/>
            <a:chExt cx="10160000" cy="4267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600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0160000">
                  <a:moveTo>
                    <a:pt x="304800" y="0"/>
                  </a:moveTo>
                  <a:lnTo>
                    <a:pt x="9855200" y="0"/>
                  </a:lnTo>
                  <a:cubicBezTo>
                    <a:pt x="10023475" y="0"/>
                    <a:pt x="10160000" y="136525"/>
                    <a:pt x="10160000" y="304800"/>
                  </a:cubicBezTo>
                  <a:lnTo>
                    <a:pt x="10160000" y="3962400"/>
                  </a:lnTo>
                  <a:cubicBezTo>
                    <a:pt x="10160000" y="4130675"/>
                    <a:pt x="10023475" y="4267200"/>
                    <a:pt x="9855200" y="4267200"/>
                  </a:cubicBezTo>
                  <a:lnTo>
                    <a:pt x="304800" y="4267200"/>
                  </a:lnTo>
                  <a:cubicBezTo>
                    <a:pt x="136525" y="4267200"/>
                    <a:pt x="0" y="4130675"/>
                    <a:pt x="0" y="3962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90700" y="4060793"/>
            <a:ext cx="67056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599">
                <a:solidFill>
                  <a:srgbClr val="1A1A1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IL FATTO TESTUALE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90700" y="4556093"/>
            <a:ext cx="67056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270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rivolgersi ai Greci è Virgilio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90700" y="5127593"/>
            <a:ext cx="670560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Dante desidera ardentemente parlare con loro, e il maestro lo trattiene: la richiesta la formula lui, in nome della poesia antica che li ha resi celebri.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34500" y="3641693"/>
            <a:ext cx="7620000" cy="3200400"/>
            <a:chOff x="0" y="0"/>
            <a:chExt cx="10160000" cy="4267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0160000">
                  <a:moveTo>
                    <a:pt x="304800" y="0"/>
                  </a:moveTo>
                  <a:lnTo>
                    <a:pt x="9855200" y="0"/>
                  </a:lnTo>
                  <a:cubicBezTo>
                    <a:pt x="10023475" y="0"/>
                    <a:pt x="10160000" y="136525"/>
                    <a:pt x="10160000" y="304800"/>
                  </a:cubicBezTo>
                  <a:lnTo>
                    <a:pt x="10160000" y="3962400"/>
                  </a:lnTo>
                  <a:cubicBezTo>
                    <a:pt x="10160000" y="4130675"/>
                    <a:pt x="10023475" y="4267200"/>
                    <a:pt x="9855200" y="4267200"/>
                  </a:cubicBezTo>
                  <a:lnTo>
                    <a:pt x="304800" y="4267200"/>
                  </a:lnTo>
                  <a:cubicBezTo>
                    <a:pt x="136525" y="4267200"/>
                    <a:pt x="0" y="4130675"/>
                    <a:pt x="0" y="3962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791700" y="4060793"/>
            <a:ext cx="67056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599">
                <a:solidFill>
                  <a:srgbClr val="1A1A1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L'EFFETTO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91700" y="4556093"/>
            <a:ext cx="67056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270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Ulisse parla, ma non risponde a noi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91700" y="5127593"/>
            <a:ext cx="670560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Nessuno lo interroga sulle colpe, nessuno lo contraddice. Il suo racconto arriva intero, senza contro-voce: è per questo che ci conquista.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33500" y="7639050"/>
            <a:ext cx="15621000" cy="1695450"/>
            <a:chOff x="0" y="0"/>
            <a:chExt cx="20828000" cy="2260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28000" cy="2260600"/>
            </a:xfrm>
            <a:custGeom>
              <a:avLst/>
              <a:gdLst/>
              <a:ahLst/>
              <a:cxnLst/>
              <a:rect r="r" b="b" t="t" l="l"/>
              <a:pathLst>
                <a:path h="2260600" w="20828000">
                  <a:moveTo>
                    <a:pt x="304800" y="0"/>
                  </a:moveTo>
                  <a:lnTo>
                    <a:pt x="20523200" y="0"/>
                  </a:lnTo>
                  <a:cubicBezTo>
                    <a:pt x="20691475" y="0"/>
                    <a:pt x="20828000" y="136525"/>
                    <a:pt x="20828000" y="304800"/>
                  </a:cubicBezTo>
                  <a:lnTo>
                    <a:pt x="20828000" y="1955800"/>
                  </a:lnTo>
                  <a:cubicBezTo>
                    <a:pt x="20828000" y="2124075"/>
                    <a:pt x="20691475" y="2260600"/>
                    <a:pt x="20523200" y="2260600"/>
                  </a:cubicBezTo>
                  <a:lnTo>
                    <a:pt x="304800" y="2260600"/>
                  </a:lnTo>
                  <a:cubicBezTo>
                    <a:pt x="136525" y="2260600"/>
                    <a:pt x="0" y="2124075"/>
                    <a:pt x="0" y="19558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790700" y="8020050"/>
            <a:ext cx="3048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C7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→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62200" y="7991475"/>
            <a:ext cx="141351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 condanna non è mai pronunciata da un personaggio: è costruita dalla struttura. Sappiamo dov'è Ulisse perché lo vediamo bruciare, non perché qualcuno lo accusi.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842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333500" y="3341465"/>
            <a:ext cx="15621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50">
                <a:solidFill>
                  <a:srgbClr val="1A1A1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PAUSA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00" y="4360640"/>
            <a:ext cx="1562100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25"/>
              </a:lnSpc>
            </a:pPr>
            <a:r>
              <a:rPr lang="en-US" b="true" sz="1425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ATTENZIONE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33500" y="5837015"/>
            <a:ext cx="11430000" cy="1070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Da qui in avanti ci mettiamo dalla parte di chi ascolta Ulisse. Alla fine dovrete dire se vi ha convinti — e perché.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333500" y="876300"/>
            <a:ext cx="15621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50">
                <a:solidFill>
                  <a:srgbClr val="FFC7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ANALISI RETORICA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00" y="1638300"/>
            <a:ext cx="1562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b="true" sz="585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L'ORAZION PICCIOLA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33500" y="2543175"/>
            <a:ext cx="1371600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Poche terzine bastano a convincere un equipaggio esausto a proseguire oltre ogni limite conosciuto. È un discorso perfetto: vale la pena smontarlo pezzo per pezzo.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33500" y="3952875"/>
            <a:ext cx="3705225" cy="3011710"/>
            <a:chOff x="0" y="0"/>
            <a:chExt cx="4940300" cy="40156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40300" cy="4015613"/>
            </a:xfrm>
            <a:custGeom>
              <a:avLst/>
              <a:gdLst/>
              <a:ahLst/>
              <a:cxnLst/>
              <a:rect r="r" b="b" t="t" l="l"/>
              <a:pathLst>
                <a:path h="4015613" w="4940300">
                  <a:moveTo>
                    <a:pt x="304800" y="0"/>
                  </a:moveTo>
                  <a:lnTo>
                    <a:pt x="4635500" y="0"/>
                  </a:lnTo>
                  <a:cubicBezTo>
                    <a:pt x="4803775" y="0"/>
                    <a:pt x="4940300" y="136525"/>
                    <a:pt x="4940300" y="304800"/>
                  </a:cubicBezTo>
                  <a:lnTo>
                    <a:pt x="4940300" y="3710813"/>
                  </a:lnTo>
                  <a:cubicBezTo>
                    <a:pt x="4940300" y="3879088"/>
                    <a:pt x="4803775" y="4015613"/>
                    <a:pt x="4635500" y="4015613"/>
                  </a:cubicBezTo>
                  <a:lnTo>
                    <a:pt x="304800" y="4015613"/>
                  </a:lnTo>
                  <a:cubicBezTo>
                    <a:pt x="136525" y="4015613"/>
                    <a:pt x="0" y="3879088"/>
                    <a:pt x="0" y="3710813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25252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14500" y="4295775"/>
            <a:ext cx="294322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450">
                <a:solidFill>
                  <a:srgbClr val="FFC7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MOSSA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4500" y="4752975"/>
            <a:ext cx="294322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 chiama fratelli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4500" y="5210175"/>
            <a:ext cx="2943225" cy="104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Cancella la gerarchia: non è un ordine, è un'idea condivisa.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305425" y="3952875"/>
            <a:ext cx="3705225" cy="3011710"/>
            <a:chOff x="0" y="0"/>
            <a:chExt cx="4940300" cy="40156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40300" cy="4015613"/>
            </a:xfrm>
            <a:custGeom>
              <a:avLst/>
              <a:gdLst/>
              <a:ahLst/>
              <a:cxnLst/>
              <a:rect r="r" b="b" t="t" l="l"/>
              <a:pathLst>
                <a:path h="4015613" w="4940300">
                  <a:moveTo>
                    <a:pt x="304800" y="0"/>
                  </a:moveTo>
                  <a:lnTo>
                    <a:pt x="4635500" y="0"/>
                  </a:lnTo>
                  <a:cubicBezTo>
                    <a:pt x="4803775" y="0"/>
                    <a:pt x="4940300" y="136525"/>
                    <a:pt x="4940300" y="304800"/>
                  </a:cubicBezTo>
                  <a:lnTo>
                    <a:pt x="4940300" y="3710813"/>
                  </a:lnTo>
                  <a:cubicBezTo>
                    <a:pt x="4940300" y="3879088"/>
                    <a:pt x="4803775" y="4015613"/>
                    <a:pt x="4635500" y="4015613"/>
                  </a:cubicBezTo>
                  <a:lnTo>
                    <a:pt x="304800" y="4015613"/>
                  </a:lnTo>
                  <a:cubicBezTo>
                    <a:pt x="136525" y="4015613"/>
                    <a:pt x="0" y="3879088"/>
                    <a:pt x="0" y="3710813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252525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686425" y="4295775"/>
            <a:ext cx="294322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450">
                <a:solidFill>
                  <a:srgbClr val="FFC7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MOSSA 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86425" y="4752975"/>
            <a:ext cx="294322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Ricorda le fatiche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86425" y="5210175"/>
            <a:ext cx="2943225" cy="104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Il passato condiviso diventa il credito da spendere adesso.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77350" y="3952875"/>
            <a:ext cx="3705225" cy="3011710"/>
            <a:chOff x="0" y="0"/>
            <a:chExt cx="4940300" cy="40156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40300" cy="4015613"/>
            </a:xfrm>
            <a:custGeom>
              <a:avLst/>
              <a:gdLst/>
              <a:ahLst/>
              <a:cxnLst/>
              <a:rect r="r" b="b" t="t" l="l"/>
              <a:pathLst>
                <a:path h="4015613" w="4940300">
                  <a:moveTo>
                    <a:pt x="304800" y="0"/>
                  </a:moveTo>
                  <a:lnTo>
                    <a:pt x="4635500" y="0"/>
                  </a:lnTo>
                  <a:cubicBezTo>
                    <a:pt x="4803775" y="0"/>
                    <a:pt x="4940300" y="136525"/>
                    <a:pt x="4940300" y="304800"/>
                  </a:cubicBezTo>
                  <a:lnTo>
                    <a:pt x="4940300" y="3710813"/>
                  </a:lnTo>
                  <a:cubicBezTo>
                    <a:pt x="4940300" y="3879088"/>
                    <a:pt x="4803775" y="4015613"/>
                    <a:pt x="4635500" y="4015613"/>
                  </a:cubicBezTo>
                  <a:lnTo>
                    <a:pt x="304800" y="4015613"/>
                  </a:lnTo>
                  <a:cubicBezTo>
                    <a:pt x="136525" y="4015613"/>
                    <a:pt x="0" y="3879088"/>
                    <a:pt x="0" y="3710813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252525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658350" y="4295775"/>
            <a:ext cx="294322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450">
                <a:solidFill>
                  <a:srgbClr val="FFC7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MOSSA 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8350" y="4752975"/>
            <a:ext cx="2943225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Nomina il poco tempo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58350" y="5553075"/>
            <a:ext cx="2943225" cy="71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La vecchiaia trasforma la prudenza in spreco.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249275" y="3952875"/>
            <a:ext cx="3705225" cy="3011710"/>
            <a:chOff x="0" y="0"/>
            <a:chExt cx="4940300" cy="40156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40300" cy="4015613"/>
            </a:xfrm>
            <a:custGeom>
              <a:avLst/>
              <a:gdLst/>
              <a:ahLst/>
              <a:cxnLst/>
              <a:rect r="r" b="b" t="t" l="l"/>
              <a:pathLst>
                <a:path h="4015613" w="4940300">
                  <a:moveTo>
                    <a:pt x="304800" y="0"/>
                  </a:moveTo>
                  <a:lnTo>
                    <a:pt x="4635500" y="0"/>
                  </a:lnTo>
                  <a:cubicBezTo>
                    <a:pt x="4803775" y="0"/>
                    <a:pt x="4940300" y="136525"/>
                    <a:pt x="4940300" y="304800"/>
                  </a:cubicBezTo>
                  <a:lnTo>
                    <a:pt x="4940300" y="3710813"/>
                  </a:lnTo>
                  <a:cubicBezTo>
                    <a:pt x="4940300" y="3879088"/>
                    <a:pt x="4803775" y="4015613"/>
                    <a:pt x="4635500" y="4015613"/>
                  </a:cubicBezTo>
                  <a:lnTo>
                    <a:pt x="304800" y="4015613"/>
                  </a:lnTo>
                  <a:cubicBezTo>
                    <a:pt x="136525" y="4015613"/>
                    <a:pt x="0" y="3879088"/>
                    <a:pt x="0" y="3710813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630275" y="4295775"/>
            <a:ext cx="294322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450">
                <a:solidFill>
                  <a:srgbClr val="1A1A1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MOSSA 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30275" y="4752975"/>
            <a:ext cx="294322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Definisce l'uomo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30275" y="5210175"/>
            <a:ext cx="2943225" cy="137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Chi non cerca virtù e conoscenza è una bestia: rifiutare è rinunciare a essere uomini.</a:t>
            </a:r>
          </a:p>
        </p:txBody>
      </p:sp>
      <p:sp>
        <p:nvSpPr>
          <p:cNvPr name="AutoShape 26" id="26"/>
          <p:cNvSpPr/>
          <p:nvPr/>
        </p:nvSpPr>
        <p:spPr>
          <a:xfrm rot="0">
            <a:off x="1333500" y="7307485"/>
            <a:ext cx="15621000" cy="9525"/>
          </a:xfrm>
          <a:prstGeom prst="rect">
            <a:avLst/>
          </a:prstGeom>
          <a:solidFill>
            <a:srgbClr val="373737"/>
          </a:solidFill>
        </p:spPr>
      </p:sp>
      <p:sp>
        <p:nvSpPr>
          <p:cNvPr name="TextBox 27" id="27"/>
          <p:cNvSpPr txBox="true"/>
          <p:nvPr/>
        </p:nvSpPr>
        <p:spPr>
          <a:xfrm rot="0">
            <a:off x="1333500" y="7632192"/>
            <a:ext cx="182118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450">
                <a:solidFill>
                  <a:srgbClr val="FF842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 NOTARE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383280" y="7583710"/>
            <a:ext cx="12554522" cy="41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In tutta l'orazione non compare mai il rischio, né la destinazione: si promette il viaggio, mai il ritorno.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333500" y="914400"/>
            <a:ext cx="15621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50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IL VIAGGIO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00" y="2202180"/>
            <a:ext cx="1562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b="true" sz="585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IL FOLLE VOLO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1333500" y="3861530"/>
            <a:ext cx="15621000" cy="5715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333500" y="4213955"/>
            <a:ext cx="356235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FF842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Rotta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3500" y="4823555"/>
            <a:ext cx="3562350" cy="35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Sempre a sinistra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3500" y="5265420"/>
            <a:ext cx="3562350" cy="108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Verso occidente e verso sud: la direzione dell'ignoto, opposta alla via di casa.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38750" y="4213955"/>
            <a:ext cx="356235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FF842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Soglia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38750" y="4823555"/>
            <a:ext cx="3562350" cy="35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 colonne d'Ercole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38750" y="5265420"/>
            <a:ext cx="356235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Il segnale posto perché nessuno vada oltre: un limite dichiarato, non un ostacolo fisico.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4213955"/>
            <a:ext cx="356235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FF842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Tempo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4823555"/>
            <a:ext cx="3562350" cy="35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Cinque mesi di mare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5265420"/>
            <a:ext cx="3562350" cy="108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Contati sulle fasi lunari: il tempo si misura ancora, lo spazio no.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49250" y="4213955"/>
            <a:ext cx="390525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FF842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Meta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49250" y="4823555"/>
            <a:ext cx="3905250" cy="35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Una montagna bruna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49250" y="5265420"/>
            <a:ext cx="3905250" cy="7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Altissima, mai vista prima: è il Purgatorio, la terra proibita ai vivi.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33500" y="7639050"/>
            <a:ext cx="15621000" cy="1695450"/>
            <a:chOff x="0" y="0"/>
            <a:chExt cx="20828000" cy="2260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828000" cy="2260600"/>
            </a:xfrm>
            <a:custGeom>
              <a:avLst/>
              <a:gdLst/>
              <a:ahLst/>
              <a:cxnLst/>
              <a:rect r="r" b="b" t="t" l="l"/>
              <a:pathLst>
                <a:path h="2260600" w="20828000">
                  <a:moveTo>
                    <a:pt x="304800" y="0"/>
                  </a:moveTo>
                  <a:lnTo>
                    <a:pt x="20523200" y="0"/>
                  </a:lnTo>
                  <a:cubicBezTo>
                    <a:pt x="20691475" y="0"/>
                    <a:pt x="20828000" y="136525"/>
                    <a:pt x="20828000" y="304800"/>
                  </a:cubicBezTo>
                  <a:lnTo>
                    <a:pt x="20828000" y="1955800"/>
                  </a:lnTo>
                  <a:cubicBezTo>
                    <a:pt x="20828000" y="2124075"/>
                    <a:pt x="20691475" y="2260600"/>
                    <a:pt x="20523200" y="2260600"/>
                  </a:cubicBezTo>
                  <a:lnTo>
                    <a:pt x="304800" y="2260600"/>
                  </a:lnTo>
                  <a:cubicBezTo>
                    <a:pt x="136525" y="2260600"/>
                    <a:pt x="0" y="2124075"/>
                    <a:pt x="0" y="19558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790700" y="8020050"/>
            <a:ext cx="137245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450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LESSICO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29857" y="7991475"/>
            <a:ext cx="1306744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2250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Folle</a:t>
            </a: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qui non significa coraggioso né pazzo: significa privo della misura che l'uomo dovrebbe avere. È la parola che il narratore sceglie, e pesa quanto una sentenza.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333500" y="914400"/>
            <a:ext cx="15621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50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IL FINALE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00" y="2914650"/>
            <a:ext cx="1562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b="true" sz="585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CHI DECIDE COME FINISCE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33500" y="5057775"/>
            <a:ext cx="7359682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Dalla montagna si alza un turbine che colpisce la prua, fa girare la nave tre volte, la solleva di poppa e la inabissa. Il canto si chiude sul mare richiuso sopra di loro.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3500" y="7143750"/>
            <a:ext cx="7359682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Nell'ultimo verso il responsabile del naufragio è indicato con una perifrasi: «com'altrui piacque». Un pronome indefinito al posto del nome di Dio.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26582" y="5133975"/>
            <a:ext cx="7727728" cy="4200525"/>
            <a:chOff x="0" y="0"/>
            <a:chExt cx="10303637" cy="5600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03637" cy="5600700"/>
            </a:xfrm>
            <a:custGeom>
              <a:avLst/>
              <a:gdLst/>
              <a:ahLst/>
              <a:cxnLst/>
              <a:rect r="r" b="b" t="t" l="l"/>
              <a:pathLst>
                <a:path h="5600700" w="10303637">
                  <a:moveTo>
                    <a:pt x="304800" y="0"/>
                  </a:moveTo>
                  <a:lnTo>
                    <a:pt x="9998837" y="0"/>
                  </a:lnTo>
                  <a:cubicBezTo>
                    <a:pt x="10167112" y="0"/>
                    <a:pt x="10303637" y="136525"/>
                    <a:pt x="10303637" y="304800"/>
                  </a:cubicBezTo>
                  <a:lnTo>
                    <a:pt x="10303637" y="5295900"/>
                  </a:lnTo>
                  <a:cubicBezTo>
                    <a:pt x="10303637" y="5464175"/>
                    <a:pt x="10167112" y="5600700"/>
                    <a:pt x="9998837" y="5600700"/>
                  </a:cubicBezTo>
                  <a:lnTo>
                    <a:pt x="304800" y="5600700"/>
                  </a:lnTo>
                  <a:cubicBezTo>
                    <a:pt x="136525" y="5600700"/>
                    <a:pt x="0" y="5464175"/>
                    <a:pt x="0" y="52959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721882" y="5591175"/>
            <a:ext cx="673712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599">
                <a:solidFill>
                  <a:srgbClr val="FFC7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PERCHÉ È DECISIVO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21882" y="6115050"/>
            <a:ext cx="673712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Il giudizio non viene spiegato: viene eseguito.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21882" y="7181850"/>
            <a:ext cx="6737128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Nessuna morale, nessuna condanna esplicita, nessun commento del narratore. Il lettore capisce da solo — ed è proprio questo che rende il finale irrevocabile.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333500" y="914400"/>
            <a:ext cx="15621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50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CONCETTO CHIAVE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00" y="2568607"/>
            <a:ext cx="1562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b="true" sz="585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IL CONTRAPPASSO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33500" y="4517993"/>
            <a:ext cx="7620000" cy="2647950"/>
            <a:chOff x="0" y="0"/>
            <a:chExt cx="10160000" cy="3530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60000" cy="3530600"/>
            </a:xfrm>
            <a:custGeom>
              <a:avLst/>
              <a:gdLst/>
              <a:ahLst/>
              <a:cxnLst/>
              <a:rect r="r" b="b" t="t" l="l"/>
              <a:pathLst>
                <a:path h="3530600" w="10160000">
                  <a:moveTo>
                    <a:pt x="304800" y="0"/>
                  </a:moveTo>
                  <a:lnTo>
                    <a:pt x="9855200" y="0"/>
                  </a:lnTo>
                  <a:cubicBezTo>
                    <a:pt x="10023475" y="0"/>
                    <a:pt x="10160000" y="136525"/>
                    <a:pt x="10160000" y="304800"/>
                  </a:cubicBezTo>
                  <a:lnTo>
                    <a:pt x="10160000" y="3225800"/>
                  </a:lnTo>
                  <a:cubicBezTo>
                    <a:pt x="10160000" y="3394075"/>
                    <a:pt x="10023475" y="3530600"/>
                    <a:pt x="9855200" y="3530600"/>
                  </a:cubicBezTo>
                  <a:lnTo>
                    <a:pt x="304800" y="3530600"/>
                  </a:lnTo>
                  <a:cubicBezTo>
                    <a:pt x="136525" y="3530600"/>
                    <a:pt x="0" y="3394075"/>
                    <a:pt x="0" y="32258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90700" y="4937093"/>
            <a:ext cx="67056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599">
                <a:solidFill>
                  <a:srgbClr val="1A1A1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DEFINIZIONE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90700" y="5356193"/>
            <a:ext cx="6705600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La pena riproduce la colpa — per somiglianza o per contrasto. Non è una punizione scelta a caso: è la colpa resa visibile per l'eternità.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34500" y="4517993"/>
            <a:ext cx="7620000" cy="2647950"/>
            <a:chOff x="0" y="0"/>
            <a:chExt cx="10160000" cy="3530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60000" cy="3530600"/>
            </a:xfrm>
            <a:custGeom>
              <a:avLst/>
              <a:gdLst/>
              <a:ahLst/>
              <a:cxnLst/>
              <a:rect r="r" b="b" t="t" l="l"/>
              <a:pathLst>
                <a:path h="3530600" w="10160000">
                  <a:moveTo>
                    <a:pt x="304800" y="0"/>
                  </a:moveTo>
                  <a:lnTo>
                    <a:pt x="9855200" y="0"/>
                  </a:lnTo>
                  <a:cubicBezTo>
                    <a:pt x="10023475" y="0"/>
                    <a:pt x="10160000" y="136525"/>
                    <a:pt x="10160000" y="304800"/>
                  </a:cubicBezTo>
                  <a:lnTo>
                    <a:pt x="10160000" y="3225800"/>
                  </a:lnTo>
                  <a:cubicBezTo>
                    <a:pt x="10160000" y="3394075"/>
                    <a:pt x="10023475" y="3530600"/>
                    <a:pt x="9855200" y="3530600"/>
                  </a:cubicBezTo>
                  <a:lnTo>
                    <a:pt x="304800" y="3530600"/>
                  </a:lnTo>
                  <a:cubicBezTo>
                    <a:pt x="136525" y="3530600"/>
                    <a:pt x="0" y="3394075"/>
                    <a:pt x="0" y="32258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791700" y="4937093"/>
            <a:ext cx="67056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599">
                <a:solidFill>
                  <a:srgbClr val="1A1A1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QUI, PER SOMIGLIANZA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91700" y="5356193"/>
            <a:ext cx="6705600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La parola bruciava di ingegno e nascondeva il vero: ora il fuoco avvolge il corpo e la voce esce a fatica, deformata, dalla punta della fiamma.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3500" y="8410575"/>
            <a:ext cx="137160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Nota che il contrappasso agisce anche sul racconto: Ulisse convince ancora, perfino da dannato. La sua abilità non è stata tolta — è stata condannata insieme a lui.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333500" y="914400"/>
            <a:ext cx="15621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50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FONTI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00" y="2670143"/>
            <a:ext cx="1562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b="true" sz="585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L'ULISSE CHE DANTE NON HA LETTO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33500" y="4568857"/>
            <a:ext cx="1371600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Dante non poteva leggere l'Odissea: il greco non circolava e il poema non era tradotto. Il suo Ulisse nasce da fonti latine — e infatti non torna mai a Itaca.</a:t>
            </a:r>
          </a:p>
        </p:txBody>
      </p:sp>
      <p:sp>
        <p:nvSpPr>
          <p:cNvPr name="AutoShape 6" id="6"/>
          <p:cNvSpPr/>
          <p:nvPr/>
        </p:nvSpPr>
        <p:spPr>
          <a:xfrm rot="0">
            <a:off x="1333500" y="6972300"/>
            <a:ext cx="5003768" cy="57150"/>
          </a:xfrm>
          <a:prstGeom prst="rect">
            <a:avLst/>
          </a:prstGeom>
          <a:solidFill>
            <a:srgbClr val="00B8B5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1333500" y="7248525"/>
            <a:ext cx="500376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5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Omero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3500" y="7781925"/>
            <a:ext cx="500376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L'eroe che desidera soprattutto tornare: il viaggio serve alla casa. Dante lo conosce solo di fama.</a:t>
            </a:r>
          </a:p>
        </p:txBody>
      </p:sp>
      <p:sp>
        <p:nvSpPr>
          <p:cNvPr name="AutoShape 9" id="9"/>
          <p:cNvSpPr/>
          <p:nvPr/>
        </p:nvSpPr>
        <p:spPr>
          <a:xfrm rot="0">
            <a:off x="6642068" y="6972300"/>
            <a:ext cx="5003768" cy="57150"/>
          </a:xfrm>
          <a:prstGeom prst="rect">
            <a:avLst/>
          </a:prstGeom>
          <a:solidFill>
            <a:srgbClr val="00B8B5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6642068" y="7248525"/>
            <a:ext cx="500376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5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Virgilio e Ovidio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42068" y="7781925"/>
            <a:ext cx="500376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Nella tradizione latina è l'ingannatore di Troia, visto dalla parte dei vinti: astuto, sleale, pericoloso.</a:t>
            </a:r>
          </a:p>
        </p:txBody>
      </p:sp>
      <p:sp>
        <p:nvSpPr>
          <p:cNvPr name="AutoShape 12" id="12"/>
          <p:cNvSpPr/>
          <p:nvPr/>
        </p:nvSpPr>
        <p:spPr>
          <a:xfrm rot="0">
            <a:off x="11950637" y="6972300"/>
            <a:ext cx="5003768" cy="57150"/>
          </a:xfrm>
          <a:prstGeom prst="rect">
            <a:avLst/>
          </a:prstGeom>
          <a:solidFill>
            <a:srgbClr val="FFC700"/>
          </a:solidFill>
        </p:spPr>
      </p:sp>
      <p:sp>
        <p:nvSpPr>
          <p:cNvPr name="TextBox 13" id="13"/>
          <p:cNvSpPr txBox="true"/>
          <p:nvPr/>
        </p:nvSpPr>
        <p:spPr>
          <a:xfrm rot="0">
            <a:off x="11950637" y="7248525"/>
            <a:ext cx="500376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5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Dante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50637" y="7781925"/>
            <a:ext cx="5003768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Inventa un finale che nessuno aveva scritto: niente ritorno, ma un'ultima navigazione oltre il limite. È un personaggio nuovo.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333500" y="876300"/>
            <a:ext cx="15621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50">
                <a:solidFill>
                  <a:srgbClr val="FFC7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IL DIBATTITO CRITICO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00" y="1638300"/>
            <a:ext cx="1562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b="true" sz="585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EROE O DANNATO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33500" y="2695575"/>
            <a:ext cx="7620000" cy="3157538"/>
            <a:chOff x="0" y="0"/>
            <a:chExt cx="10160000" cy="42100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60000" cy="4210050"/>
            </a:xfrm>
            <a:custGeom>
              <a:avLst/>
              <a:gdLst/>
              <a:ahLst/>
              <a:cxnLst/>
              <a:rect r="r" b="b" t="t" l="l"/>
              <a:pathLst>
                <a:path h="4210050" w="10160000">
                  <a:moveTo>
                    <a:pt x="304800" y="0"/>
                  </a:moveTo>
                  <a:lnTo>
                    <a:pt x="9855200" y="0"/>
                  </a:lnTo>
                  <a:cubicBezTo>
                    <a:pt x="10023475" y="0"/>
                    <a:pt x="10160000" y="136525"/>
                    <a:pt x="10160000" y="304800"/>
                  </a:cubicBezTo>
                  <a:lnTo>
                    <a:pt x="10160000" y="3905250"/>
                  </a:lnTo>
                  <a:cubicBezTo>
                    <a:pt x="10160000" y="4073525"/>
                    <a:pt x="10023475" y="4210050"/>
                    <a:pt x="9855200" y="4210050"/>
                  </a:cubicBezTo>
                  <a:lnTo>
                    <a:pt x="304800" y="4210050"/>
                  </a:lnTo>
                  <a:cubicBezTo>
                    <a:pt x="136525" y="4210050"/>
                    <a:pt x="0" y="4073525"/>
                    <a:pt x="0" y="390525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252525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90700" y="3114675"/>
            <a:ext cx="67056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599">
                <a:solidFill>
                  <a:srgbClr val="FFC7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LETTURA ROMANTICA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90700" y="3609975"/>
            <a:ext cx="67056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27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Il primo uomo moderno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90700" y="4171950"/>
            <a:ext cx="6705600" cy="1223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La sete di conoscenza vale più dell'obbedienza: la grandezza sta nel superare il limite, e la simpatia del poeta si sente in ogni verso.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34500" y="2695575"/>
            <a:ext cx="7620000" cy="3157538"/>
            <a:chOff x="0" y="0"/>
            <a:chExt cx="10160000" cy="4210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00" cy="4210050"/>
            </a:xfrm>
            <a:custGeom>
              <a:avLst/>
              <a:gdLst/>
              <a:ahLst/>
              <a:cxnLst/>
              <a:rect r="r" b="b" t="t" l="l"/>
              <a:pathLst>
                <a:path h="4210050" w="10160000">
                  <a:moveTo>
                    <a:pt x="304800" y="0"/>
                  </a:moveTo>
                  <a:lnTo>
                    <a:pt x="9855200" y="0"/>
                  </a:lnTo>
                  <a:cubicBezTo>
                    <a:pt x="10023475" y="0"/>
                    <a:pt x="10160000" y="136525"/>
                    <a:pt x="10160000" y="304800"/>
                  </a:cubicBezTo>
                  <a:lnTo>
                    <a:pt x="10160000" y="3905250"/>
                  </a:lnTo>
                  <a:cubicBezTo>
                    <a:pt x="10160000" y="4073525"/>
                    <a:pt x="10023475" y="4210050"/>
                    <a:pt x="9855200" y="4210050"/>
                  </a:cubicBezTo>
                  <a:lnTo>
                    <a:pt x="304800" y="4210050"/>
                  </a:lnTo>
                  <a:cubicBezTo>
                    <a:pt x="136525" y="4210050"/>
                    <a:pt x="0" y="4073525"/>
                    <a:pt x="0" y="390525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25252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791700" y="3114675"/>
            <a:ext cx="67056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599">
                <a:solidFill>
                  <a:srgbClr val="FF842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LETTURA TEOLOGICA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91700" y="3609975"/>
            <a:ext cx="67056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27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Una conoscenza senza guida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91700" y="4171950"/>
            <a:ext cx="6705600" cy="1223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Cercare il sapere fuori dall'ordine voluto da Dio è superbia: la stessa montagna che Ulisse non può raggiungere navigando, Dante la salirà con una guida.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33500" y="6196012"/>
            <a:ext cx="15621000" cy="1695450"/>
            <a:chOff x="0" y="0"/>
            <a:chExt cx="20828000" cy="2260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28000" cy="2260600"/>
            </a:xfrm>
            <a:custGeom>
              <a:avLst/>
              <a:gdLst/>
              <a:ahLst/>
              <a:cxnLst/>
              <a:rect r="r" b="b" t="t" l="l"/>
              <a:pathLst>
                <a:path h="2260600" w="20828000">
                  <a:moveTo>
                    <a:pt x="304800" y="0"/>
                  </a:moveTo>
                  <a:lnTo>
                    <a:pt x="20523200" y="0"/>
                  </a:lnTo>
                  <a:cubicBezTo>
                    <a:pt x="20691475" y="0"/>
                    <a:pt x="20828000" y="136525"/>
                    <a:pt x="20828000" y="304800"/>
                  </a:cubicBezTo>
                  <a:lnTo>
                    <a:pt x="20828000" y="1955800"/>
                  </a:lnTo>
                  <a:cubicBezTo>
                    <a:pt x="20828000" y="2124075"/>
                    <a:pt x="20691475" y="2260600"/>
                    <a:pt x="20523200" y="2260600"/>
                  </a:cubicBezTo>
                  <a:lnTo>
                    <a:pt x="304800" y="2260600"/>
                  </a:lnTo>
                  <a:cubicBezTo>
                    <a:pt x="136525" y="2260600"/>
                    <a:pt x="0" y="2124075"/>
                    <a:pt x="0" y="19558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790700" y="6577012"/>
            <a:ext cx="72999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450">
                <a:solidFill>
                  <a:srgbClr val="1A1A1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TESI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87396" y="6548437"/>
            <a:ext cx="13709904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Il canto tiene insieme le due cose: ammirazione e condanna convivono senza annullarsi. Chiedere quale sia quella giusta significa uscire dal testo.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333500" y="914400"/>
            <a:ext cx="15621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50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IL DOPPIO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00" y="2940558"/>
            <a:ext cx="1562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b="true" sz="585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PERCHÉ IL CANTO PARLA DI DANTE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33500" y="5109591"/>
            <a:ext cx="7581900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All'inizio del canto il narratore dichiara di dover frenare il proprio ingegno, perché non corra dove la virtù non lo guida.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3500" y="6719316"/>
            <a:ext cx="7581900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Quella frase è pronunciata prima di incontrare Ulisse, ma la si capisce solo dopo averlo ascoltato. Chi rischia il folle volo, qui, è anche chi sta scrivendo.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372600" y="5185791"/>
            <a:ext cx="7581900" cy="4148709"/>
            <a:chOff x="0" y="0"/>
            <a:chExt cx="10109200" cy="55316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09200" cy="5531612"/>
            </a:xfrm>
            <a:custGeom>
              <a:avLst/>
              <a:gdLst/>
              <a:ahLst/>
              <a:cxnLst/>
              <a:rect r="r" b="b" t="t" l="l"/>
              <a:pathLst>
                <a:path h="5531612" w="10109200">
                  <a:moveTo>
                    <a:pt x="304800" y="0"/>
                  </a:moveTo>
                  <a:lnTo>
                    <a:pt x="9804400" y="0"/>
                  </a:lnTo>
                  <a:cubicBezTo>
                    <a:pt x="9972675" y="0"/>
                    <a:pt x="10109200" y="136525"/>
                    <a:pt x="10109200" y="304800"/>
                  </a:cubicBezTo>
                  <a:lnTo>
                    <a:pt x="10109200" y="5226812"/>
                  </a:lnTo>
                  <a:cubicBezTo>
                    <a:pt x="10109200" y="5395087"/>
                    <a:pt x="9972675" y="5531612"/>
                    <a:pt x="9804400" y="5531612"/>
                  </a:cubicBezTo>
                  <a:lnTo>
                    <a:pt x="304800" y="5531612"/>
                  </a:lnTo>
                  <a:cubicBezTo>
                    <a:pt x="136525" y="5531612"/>
                    <a:pt x="0" y="5395087"/>
                    <a:pt x="0" y="5226812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867900" y="5642991"/>
            <a:ext cx="65913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599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LE SOMIGLIANZE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67900" y="6147816"/>
            <a:ext cx="6591300" cy="41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Entrambi viaggiano dove nessun vivo è andato.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67900" y="6673501"/>
            <a:ext cx="6591300" cy="41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Entrambi convincono con la parola.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67900" y="7199090"/>
            <a:ext cx="6591300" cy="41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Entrambi arrivano alla stessa montagna.</a:t>
            </a:r>
          </a:p>
        </p:txBody>
      </p:sp>
      <p:sp>
        <p:nvSpPr>
          <p:cNvPr name="AutoShape 13" id="13"/>
          <p:cNvSpPr/>
          <p:nvPr/>
        </p:nvSpPr>
        <p:spPr>
          <a:xfrm rot="0">
            <a:off x="9867900" y="7839075"/>
            <a:ext cx="6591300" cy="9525"/>
          </a:xfrm>
          <a:prstGeom prst="rect">
            <a:avLst/>
          </a:prstGeom>
          <a:solidFill>
            <a:srgbClr val="D9D9D9"/>
          </a:solidFill>
        </p:spPr>
      </p:sp>
      <p:sp>
        <p:nvSpPr>
          <p:cNvPr name="TextBox 14" id="14"/>
          <p:cNvSpPr txBox="true"/>
          <p:nvPr/>
        </p:nvSpPr>
        <p:spPr>
          <a:xfrm rot="0">
            <a:off x="9867900" y="8067675"/>
            <a:ext cx="65913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240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differenza è una sola: Dante ha una guida, Ulisse no.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333500" y="914400"/>
            <a:ext cx="15621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50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LINGUA E STILE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00" y="2456879"/>
            <a:ext cx="1562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b="true" sz="585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CINQUE STRUMENTI DA RICONOSCERE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1333500" y="4332732"/>
            <a:ext cx="2910745" cy="5715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333500" y="4628007"/>
            <a:ext cx="291074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Apostrofe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3500" y="5066157"/>
            <a:ext cx="2910745" cy="137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L'invocazione a Firenze in apertura: il poeta interrompe il racconto per rivolgersi alla città.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4510945" y="4332732"/>
            <a:ext cx="2910745" cy="5715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TextBox 9" id="9"/>
          <p:cNvSpPr txBox="true"/>
          <p:nvPr/>
        </p:nvSpPr>
        <p:spPr>
          <a:xfrm rot="0">
            <a:off x="4510945" y="4628007"/>
            <a:ext cx="291074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Similitudine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10945" y="5066157"/>
            <a:ext cx="2910745" cy="137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Le fiamme come lucciole nella valle: il quotidiano usato per rendere visibile l'inferno.</a:t>
            </a:r>
          </a:p>
        </p:txBody>
      </p:sp>
      <p:sp>
        <p:nvSpPr>
          <p:cNvPr name="AutoShape 11" id="11"/>
          <p:cNvSpPr/>
          <p:nvPr/>
        </p:nvSpPr>
        <p:spPr>
          <a:xfrm rot="0">
            <a:off x="7688485" y="4332732"/>
            <a:ext cx="2910935" cy="5715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TextBox 12" id="12"/>
          <p:cNvSpPr txBox="true"/>
          <p:nvPr/>
        </p:nvSpPr>
        <p:spPr>
          <a:xfrm rot="0">
            <a:off x="7688485" y="4628007"/>
            <a:ext cx="291093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Perifrasi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88485" y="5066157"/>
            <a:ext cx="2910935" cy="104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Il nome di Dio evitato nell'ultimo verso: dire senza nominare.</a:t>
            </a:r>
          </a:p>
        </p:txBody>
      </p:sp>
      <p:sp>
        <p:nvSpPr>
          <p:cNvPr name="AutoShape 14" id="14"/>
          <p:cNvSpPr/>
          <p:nvPr/>
        </p:nvSpPr>
        <p:spPr>
          <a:xfrm rot="0">
            <a:off x="10866120" y="4332732"/>
            <a:ext cx="2910745" cy="5715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TextBox 15" id="15"/>
          <p:cNvSpPr txBox="true"/>
          <p:nvPr/>
        </p:nvSpPr>
        <p:spPr>
          <a:xfrm rot="0">
            <a:off x="10866120" y="4628007"/>
            <a:ext cx="291074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Enjambement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66120" y="5066157"/>
            <a:ext cx="2910745" cy="137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La frase che scavalca il verso: la voce di Ulisse corre e non si lascia fermare dalla metrica.</a:t>
            </a:r>
          </a:p>
        </p:txBody>
      </p:sp>
      <p:sp>
        <p:nvSpPr>
          <p:cNvPr name="AutoShape 17" id="17"/>
          <p:cNvSpPr/>
          <p:nvPr/>
        </p:nvSpPr>
        <p:spPr>
          <a:xfrm rot="0">
            <a:off x="14043565" y="4332732"/>
            <a:ext cx="2910935" cy="5715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TextBox 18" id="18"/>
          <p:cNvSpPr txBox="true"/>
          <p:nvPr/>
        </p:nvSpPr>
        <p:spPr>
          <a:xfrm rot="0">
            <a:off x="14043565" y="4628007"/>
            <a:ext cx="291093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Stile alto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043565" y="5066157"/>
            <a:ext cx="2910935" cy="137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Lessico solenne e latinismi nel discorso: il registro stesso lo fa sembrare un eroe.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33500" y="7639050"/>
            <a:ext cx="15621000" cy="1695450"/>
            <a:chOff x="0" y="0"/>
            <a:chExt cx="20828000" cy="2260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828000" cy="2260600"/>
            </a:xfrm>
            <a:custGeom>
              <a:avLst/>
              <a:gdLst/>
              <a:ahLst/>
              <a:cxnLst/>
              <a:rect r="r" b="b" t="t" l="l"/>
              <a:pathLst>
                <a:path h="2260600" w="20828000">
                  <a:moveTo>
                    <a:pt x="304800" y="0"/>
                  </a:moveTo>
                  <a:lnTo>
                    <a:pt x="20523200" y="0"/>
                  </a:lnTo>
                  <a:cubicBezTo>
                    <a:pt x="20691475" y="0"/>
                    <a:pt x="20828000" y="136525"/>
                    <a:pt x="20828000" y="304800"/>
                  </a:cubicBezTo>
                  <a:lnTo>
                    <a:pt x="20828000" y="1955800"/>
                  </a:lnTo>
                  <a:cubicBezTo>
                    <a:pt x="20828000" y="2124075"/>
                    <a:pt x="20691475" y="2260600"/>
                    <a:pt x="20523200" y="2260600"/>
                  </a:cubicBezTo>
                  <a:lnTo>
                    <a:pt x="304800" y="2260600"/>
                  </a:lnTo>
                  <a:cubicBezTo>
                    <a:pt x="136525" y="2260600"/>
                    <a:pt x="0" y="2124075"/>
                    <a:pt x="0" y="19558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790700" y="8020050"/>
            <a:ext cx="127292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450">
                <a:solidFill>
                  <a:srgbClr val="FFC7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REGOLA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330321" y="7991475"/>
            <a:ext cx="13166979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Ogni scelta stilistica è una scelta di giudizio: se Ulisse parla in stile alto, il testo ci sta dicendo come vuole che lo ascoltiamo.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333500" y="914400"/>
            <a:ext cx="15621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50">
                <a:solidFill>
                  <a:srgbClr val="8A8A8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SINTESI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00" y="2085975"/>
            <a:ext cx="11888796" cy="78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b="true" sz="585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CINQUE COSE DA RICORDARE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33500" y="3552825"/>
            <a:ext cx="15621000" cy="1019175"/>
            <a:chOff x="0" y="0"/>
            <a:chExt cx="20828000" cy="1358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28000" cy="1358900"/>
            </a:xfrm>
            <a:custGeom>
              <a:avLst/>
              <a:gdLst/>
              <a:ahLst/>
              <a:cxnLst/>
              <a:rect r="r" b="b" t="t" l="l"/>
              <a:pathLst>
                <a:path h="1358900" w="20828000">
                  <a:moveTo>
                    <a:pt x="304800" y="0"/>
                  </a:moveTo>
                  <a:lnTo>
                    <a:pt x="20523200" y="0"/>
                  </a:lnTo>
                  <a:cubicBezTo>
                    <a:pt x="20691475" y="0"/>
                    <a:pt x="20828000" y="136525"/>
                    <a:pt x="20828000" y="304800"/>
                  </a:cubicBezTo>
                  <a:lnTo>
                    <a:pt x="20828000" y="1054100"/>
                  </a:lnTo>
                  <a:cubicBezTo>
                    <a:pt x="20828000" y="1222375"/>
                    <a:pt x="20691475" y="1358900"/>
                    <a:pt x="20523200" y="1358900"/>
                  </a:cubicBezTo>
                  <a:lnTo>
                    <a:pt x="304800" y="1358900"/>
                  </a:lnTo>
                  <a:cubicBezTo>
                    <a:pt x="136525" y="1358900"/>
                    <a:pt x="0" y="1222375"/>
                    <a:pt x="0" y="10541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52600" y="3810000"/>
            <a:ext cx="35080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50">
                <a:solidFill>
                  <a:srgbClr val="FF842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08206" y="3819525"/>
            <a:ext cx="1012964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La colpa è l'ingegno usato per ingannare, non la battaglia né l'astuzia in sé.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33500" y="4743450"/>
            <a:ext cx="15621000" cy="1019175"/>
            <a:chOff x="0" y="0"/>
            <a:chExt cx="20828000" cy="13589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828000" cy="1358900"/>
            </a:xfrm>
            <a:custGeom>
              <a:avLst/>
              <a:gdLst/>
              <a:ahLst/>
              <a:cxnLst/>
              <a:rect r="r" b="b" t="t" l="l"/>
              <a:pathLst>
                <a:path h="1358900" w="20828000">
                  <a:moveTo>
                    <a:pt x="304800" y="0"/>
                  </a:moveTo>
                  <a:lnTo>
                    <a:pt x="20523200" y="0"/>
                  </a:lnTo>
                  <a:cubicBezTo>
                    <a:pt x="20691475" y="0"/>
                    <a:pt x="20828000" y="136525"/>
                    <a:pt x="20828000" y="304800"/>
                  </a:cubicBezTo>
                  <a:lnTo>
                    <a:pt x="20828000" y="1054100"/>
                  </a:lnTo>
                  <a:cubicBezTo>
                    <a:pt x="20828000" y="1222375"/>
                    <a:pt x="20691475" y="1358900"/>
                    <a:pt x="20523200" y="1358900"/>
                  </a:cubicBezTo>
                  <a:lnTo>
                    <a:pt x="304800" y="1358900"/>
                  </a:lnTo>
                  <a:cubicBezTo>
                    <a:pt x="136525" y="1358900"/>
                    <a:pt x="0" y="1222375"/>
                    <a:pt x="0" y="10541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52600" y="5000625"/>
            <a:ext cx="41357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50">
                <a:solidFill>
                  <a:srgbClr val="FF842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70976" y="5010150"/>
            <a:ext cx="916438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Ulisse non si vede mai: parla una fiamma, e nessuno lo contraddice.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33500" y="5934075"/>
            <a:ext cx="15621000" cy="1019175"/>
            <a:chOff x="0" y="0"/>
            <a:chExt cx="20828000" cy="13589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828000" cy="1358900"/>
            </a:xfrm>
            <a:custGeom>
              <a:avLst/>
              <a:gdLst/>
              <a:ahLst/>
              <a:cxnLst/>
              <a:rect r="r" b="b" t="t" l="l"/>
              <a:pathLst>
                <a:path h="1358900" w="20828000">
                  <a:moveTo>
                    <a:pt x="304800" y="0"/>
                  </a:moveTo>
                  <a:lnTo>
                    <a:pt x="20523200" y="0"/>
                  </a:lnTo>
                  <a:cubicBezTo>
                    <a:pt x="20691475" y="0"/>
                    <a:pt x="20828000" y="136525"/>
                    <a:pt x="20828000" y="304800"/>
                  </a:cubicBezTo>
                  <a:lnTo>
                    <a:pt x="20828000" y="1054100"/>
                  </a:lnTo>
                  <a:cubicBezTo>
                    <a:pt x="20828000" y="1222375"/>
                    <a:pt x="20691475" y="1358900"/>
                    <a:pt x="20523200" y="1358900"/>
                  </a:cubicBezTo>
                  <a:lnTo>
                    <a:pt x="304800" y="1358900"/>
                  </a:lnTo>
                  <a:cubicBezTo>
                    <a:pt x="136525" y="1358900"/>
                    <a:pt x="0" y="1222375"/>
                    <a:pt x="0" y="10541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752600" y="6191250"/>
            <a:ext cx="41386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50">
                <a:solidFill>
                  <a:srgbClr val="FF842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71261" y="6200775"/>
            <a:ext cx="1122816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L'orazion picciola è un capolavoro di persuasione: promette il viaggio, mai il ritorno.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33500" y="7124700"/>
            <a:ext cx="15621000" cy="1019175"/>
            <a:chOff x="0" y="0"/>
            <a:chExt cx="20828000" cy="13589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828000" cy="1358900"/>
            </a:xfrm>
            <a:custGeom>
              <a:avLst/>
              <a:gdLst/>
              <a:ahLst/>
              <a:cxnLst/>
              <a:rect r="r" b="b" t="t" l="l"/>
              <a:pathLst>
                <a:path h="1358900" w="20828000">
                  <a:moveTo>
                    <a:pt x="304800" y="0"/>
                  </a:moveTo>
                  <a:lnTo>
                    <a:pt x="20523200" y="0"/>
                  </a:lnTo>
                  <a:cubicBezTo>
                    <a:pt x="20691475" y="0"/>
                    <a:pt x="20828000" y="136525"/>
                    <a:pt x="20828000" y="304800"/>
                  </a:cubicBezTo>
                  <a:lnTo>
                    <a:pt x="20828000" y="1054100"/>
                  </a:lnTo>
                  <a:cubicBezTo>
                    <a:pt x="20828000" y="1222375"/>
                    <a:pt x="20691475" y="1358900"/>
                    <a:pt x="20523200" y="1358900"/>
                  </a:cubicBezTo>
                  <a:lnTo>
                    <a:pt x="304800" y="1358900"/>
                  </a:lnTo>
                  <a:cubicBezTo>
                    <a:pt x="136525" y="1358900"/>
                    <a:pt x="0" y="1222375"/>
                    <a:pt x="0" y="10541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752600" y="7381875"/>
            <a:ext cx="44853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50">
                <a:solidFill>
                  <a:srgbClr val="FF842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05932" y="7391400"/>
            <a:ext cx="1081535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Il finale non spiega e non nomina: il giudizio è nella struttura, non nel commento.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33500" y="8315325"/>
            <a:ext cx="15621000" cy="1019175"/>
            <a:chOff x="0" y="0"/>
            <a:chExt cx="20828000" cy="13589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828000" cy="1358900"/>
            </a:xfrm>
            <a:custGeom>
              <a:avLst/>
              <a:gdLst/>
              <a:ahLst/>
              <a:cxnLst/>
              <a:rect r="r" b="b" t="t" l="l"/>
              <a:pathLst>
                <a:path h="1358900" w="20828000">
                  <a:moveTo>
                    <a:pt x="304800" y="0"/>
                  </a:moveTo>
                  <a:lnTo>
                    <a:pt x="20523200" y="0"/>
                  </a:lnTo>
                  <a:cubicBezTo>
                    <a:pt x="20691475" y="0"/>
                    <a:pt x="20828000" y="136525"/>
                    <a:pt x="20828000" y="304800"/>
                  </a:cubicBezTo>
                  <a:lnTo>
                    <a:pt x="20828000" y="1054100"/>
                  </a:lnTo>
                  <a:cubicBezTo>
                    <a:pt x="20828000" y="1222375"/>
                    <a:pt x="20691475" y="1358900"/>
                    <a:pt x="20523200" y="1358900"/>
                  </a:cubicBezTo>
                  <a:lnTo>
                    <a:pt x="304800" y="1358900"/>
                  </a:lnTo>
                  <a:cubicBezTo>
                    <a:pt x="136525" y="1358900"/>
                    <a:pt x="0" y="1222375"/>
                    <a:pt x="0" y="10541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752600" y="8572500"/>
            <a:ext cx="41852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50">
                <a:solidFill>
                  <a:srgbClr val="FFC7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75928" y="8582025"/>
            <a:ext cx="101094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 può raccontare una cosa e giudicarla nello stesso momento, senza dirlo.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C7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333500" y="914400"/>
            <a:ext cx="15621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50">
                <a:solidFill>
                  <a:srgbClr val="1A1A1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DISCUSSIONE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00" y="3260503"/>
            <a:ext cx="1562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b="true" sz="585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QUATTRO DOMANDE APERTE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33500" y="5901976"/>
            <a:ext cx="7658100" cy="1563910"/>
            <a:chOff x="0" y="0"/>
            <a:chExt cx="10210800" cy="20852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10800" cy="2085213"/>
            </a:xfrm>
            <a:custGeom>
              <a:avLst/>
              <a:gdLst/>
              <a:ahLst/>
              <a:cxnLst/>
              <a:rect r="r" b="b" t="t" l="l"/>
              <a:pathLst>
                <a:path h="2085213" w="10210800">
                  <a:moveTo>
                    <a:pt x="304800" y="0"/>
                  </a:moveTo>
                  <a:lnTo>
                    <a:pt x="9906000" y="0"/>
                  </a:lnTo>
                  <a:cubicBezTo>
                    <a:pt x="10074275" y="0"/>
                    <a:pt x="10210800" y="136525"/>
                    <a:pt x="10210800" y="304800"/>
                  </a:cubicBezTo>
                  <a:lnTo>
                    <a:pt x="10210800" y="1780413"/>
                  </a:lnTo>
                  <a:cubicBezTo>
                    <a:pt x="10210800" y="1948688"/>
                    <a:pt x="10074275" y="2085213"/>
                    <a:pt x="9906000" y="2085213"/>
                  </a:cubicBezTo>
                  <a:lnTo>
                    <a:pt x="304800" y="2085213"/>
                  </a:lnTo>
                  <a:cubicBezTo>
                    <a:pt x="136525" y="2085213"/>
                    <a:pt x="0" y="1948688"/>
                    <a:pt x="0" y="1780413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52600" y="6235351"/>
            <a:ext cx="35080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5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70106" y="6273451"/>
            <a:ext cx="6202394" cy="811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 un discorso vi convince, questo dice qualcosa su chi lo pronuncia?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96400" y="5901976"/>
            <a:ext cx="7658100" cy="1563910"/>
            <a:chOff x="0" y="0"/>
            <a:chExt cx="10210800" cy="20852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10800" cy="2085213"/>
            </a:xfrm>
            <a:custGeom>
              <a:avLst/>
              <a:gdLst/>
              <a:ahLst/>
              <a:cxnLst/>
              <a:rect r="r" b="b" t="t" l="l"/>
              <a:pathLst>
                <a:path h="2085213" w="10210800">
                  <a:moveTo>
                    <a:pt x="304800" y="0"/>
                  </a:moveTo>
                  <a:lnTo>
                    <a:pt x="9906000" y="0"/>
                  </a:lnTo>
                  <a:cubicBezTo>
                    <a:pt x="10074275" y="0"/>
                    <a:pt x="10210800" y="136525"/>
                    <a:pt x="10210800" y="304800"/>
                  </a:cubicBezTo>
                  <a:lnTo>
                    <a:pt x="10210800" y="1780413"/>
                  </a:lnTo>
                  <a:cubicBezTo>
                    <a:pt x="10210800" y="1948688"/>
                    <a:pt x="10074275" y="2085213"/>
                    <a:pt x="9906000" y="2085213"/>
                  </a:cubicBezTo>
                  <a:lnTo>
                    <a:pt x="304800" y="2085213"/>
                  </a:lnTo>
                  <a:cubicBezTo>
                    <a:pt x="136525" y="2085213"/>
                    <a:pt x="0" y="1948688"/>
                    <a:pt x="0" y="1780413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715500" y="6235351"/>
            <a:ext cx="41357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5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95776" y="6273451"/>
            <a:ext cx="6139625" cy="811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Perché Dante sceglie di non far vedere Ulisse in faccia?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33500" y="7770590"/>
            <a:ext cx="7658100" cy="1563910"/>
            <a:chOff x="0" y="0"/>
            <a:chExt cx="10210800" cy="20852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10800" cy="2085213"/>
            </a:xfrm>
            <a:custGeom>
              <a:avLst/>
              <a:gdLst/>
              <a:ahLst/>
              <a:cxnLst/>
              <a:rect r="r" b="b" t="t" l="l"/>
              <a:pathLst>
                <a:path h="2085213" w="10210800">
                  <a:moveTo>
                    <a:pt x="304800" y="0"/>
                  </a:moveTo>
                  <a:lnTo>
                    <a:pt x="9906000" y="0"/>
                  </a:lnTo>
                  <a:cubicBezTo>
                    <a:pt x="10074275" y="0"/>
                    <a:pt x="10210800" y="136525"/>
                    <a:pt x="10210800" y="304800"/>
                  </a:cubicBezTo>
                  <a:lnTo>
                    <a:pt x="10210800" y="1780413"/>
                  </a:lnTo>
                  <a:cubicBezTo>
                    <a:pt x="10210800" y="1948688"/>
                    <a:pt x="10074275" y="2085213"/>
                    <a:pt x="9906000" y="2085213"/>
                  </a:cubicBezTo>
                  <a:lnTo>
                    <a:pt x="304800" y="2085213"/>
                  </a:lnTo>
                  <a:cubicBezTo>
                    <a:pt x="136525" y="2085213"/>
                    <a:pt x="0" y="1948688"/>
                    <a:pt x="0" y="1780413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752600" y="8103965"/>
            <a:ext cx="41386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5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33161" y="8142065"/>
            <a:ext cx="6139339" cy="811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Esiste una conoscenza che non vale la pena di cercare? Chi lo decide?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96400" y="7770590"/>
            <a:ext cx="7658100" cy="1563910"/>
            <a:chOff x="0" y="0"/>
            <a:chExt cx="10210800" cy="20852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10800" cy="2085213"/>
            </a:xfrm>
            <a:custGeom>
              <a:avLst/>
              <a:gdLst/>
              <a:ahLst/>
              <a:cxnLst/>
              <a:rect r="r" b="b" t="t" l="l"/>
              <a:pathLst>
                <a:path h="2085213" w="10210800">
                  <a:moveTo>
                    <a:pt x="304800" y="0"/>
                  </a:moveTo>
                  <a:lnTo>
                    <a:pt x="9906000" y="0"/>
                  </a:lnTo>
                  <a:cubicBezTo>
                    <a:pt x="10074275" y="0"/>
                    <a:pt x="10210800" y="136525"/>
                    <a:pt x="10210800" y="304800"/>
                  </a:cubicBezTo>
                  <a:lnTo>
                    <a:pt x="10210800" y="1780413"/>
                  </a:lnTo>
                  <a:cubicBezTo>
                    <a:pt x="10210800" y="1948688"/>
                    <a:pt x="10074275" y="2085213"/>
                    <a:pt x="9906000" y="2085213"/>
                  </a:cubicBezTo>
                  <a:lnTo>
                    <a:pt x="304800" y="2085213"/>
                  </a:lnTo>
                  <a:cubicBezTo>
                    <a:pt x="136525" y="2085213"/>
                    <a:pt x="0" y="1948688"/>
                    <a:pt x="0" y="1780413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715500" y="8103965"/>
            <a:ext cx="44853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50">
                <a:solidFill>
                  <a:srgbClr val="1A1A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30732" y="8142065"/>
            <a:ext cx="6104668" cy="811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Dove riconoscete, oggi, un discorso costruito come l'orazion picciola?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DAHRhqiC-QA</dc:identifier>
  <dcterms:modified xsi:type="dcterms:W3CDTF">2011-08-01T06:04:30Z</dcterms:modified>
  <cp:revision>1</cp:revision>
  <dc:title>Il canto di Ulisse — Inferno XXVI (v4)</dc:title>
</cp:coreProperties>
</file>